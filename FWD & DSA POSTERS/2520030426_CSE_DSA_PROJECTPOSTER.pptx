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15124113"/>
  <p:notesSz cx="15124113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960" y="-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485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2331720"/>
          </a:xfrm>
          <a:prstGeom prst="rect">
            <a:avLst/>
          </a:prstGeom>
          <a:solidFill>
            <a:srgbClr val="2D3E50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374368"/>
            <a:ext cx="10689336" cy="749808"/>
          </a:xfrm>
          <a:prstGeom prst="rect">
            <a:avLst/>
          </a:prstGeom>
          <a:solidFill>
            <a:srgbClr val="2D3E50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336167" cy="146304"/>
          </a:xfrm>
          <a:prstGeom prst="rect">
            <a:avLst/>
          </a:prstGeom>
          <a:solidFill>
            <a:srgbClr val="8BB4C9"/>
          </a:solidFill>
          <a:ln w="12700">
            <a:solidFill>
              <a:srgbClr val="8BB4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6167" y="0"/>
            <a:ext cx="1336167" cy="146304"/>
          </a:xfrm>
          <a:prstGeom prst="rect">
            <a:avLst/>
          </a:prstGeom>
          <a:solidFill>
            <a:srgbClr val="F5D78E"/>
          </a:solidFill>
          <a:ln w="12700">
            <a:solidFill>
              <a:srgbClr val="F5D7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72334" y="0"/>
            <a:ext cx="1336167" cy="146304"/>
          </a:xfrm>
          <a:prstGeom prst="rect">
            <a:avLst/>
          </a:prstGeom>
          <a:solidFill>
            <a:srgbClr val="9AC9A4"/>
          </a:solidFill>
          <a:ln w="12700">
            <a:solidFill>
              <a:srgbClr val="9AC9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08501" y="0"/>
            <a:ext cx="1336167" cy="146304"/>
          </a:xfrm>
          <a:prstGeom prst="rect">
            <a:avLst/>
          </a:prstGeom>
          <a:solidFill>
            <a:srgbClr val="D4A59A"/>
          </a:solidFill>
          <a:ln w="12700">
            <a:solidFill>
              <a:srgbClr val="D4A5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44668" y="0"/>
            <a:ext cx="1336167" cy="1463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80835" y="0"/>
            <a:ext cx="1336167" cy="146304"/>
          </a:xfrm>
          <a:prstGeom prst="rect">
            <a:avLst/>
          </a:prstGeom>
          <a:solidFill>
            <a:srgbClr val="8BB4C9"/>
          </a:solidFill>
          <a:ln w="12700">
            <a:solidFill>
              <a:srgbClr val="8BB4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17002" y="0"/>
            <a:ext cx="1336167" cy="146304"/>
          </a:xfrm>
          <a:prstGeom prst="rect">
            <a:avLst/>
          </a:prstGeom>
          <a:solidFill>
            <a:srgbClr val="F5D78E"/>
          </a:solidFill>
          <a:ln w="12700">
            <a:solidFill>
              <a:srgbClr val="F5D7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53169" y="0"/>
            <a:ext cx="1336167" cy="146304"/>
          </a:xfrm>
          <a:prstGeom prst="rect">
            <a:avLst/>
          </a:prstGeom>
          <a:solidFill>
            <a:srgbClr val="9AC9A4"/>
          </a:solidFill>
          <a:ln w="12700">
            <a:solidFill>
              <a:srgbClr val="9AC9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2880"/>
            <a:ext cx="9957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BACHUPALLY  ·  DATA STRUCTURES &amp; ALGORITHMS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"/>
            <a:ext cx="10140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Medicine Tracker System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74320" y="1133856"/>
            <a:ext cx="10140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D7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DSA Implementation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" y="1572768"/>
            <a:ext cx="9957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5D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CO1: Search &amp; Sort  ·  CO2: Linked Lists  ·  CO3: Stack/Queue  ·  CO4: HashMap  ·  CO5: Application  ·  CO6: UI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91840" y="2011680"/>
            <a:ext cx="4114800" cy="237744"/>
          </a:xfrm>
          <a:prstGeom prst="rect">
            <a:avLst/>
          </a:prstGeom>
          <a:solidFill>
            <a:srgbClr val="8BB4C9"/>
          </a:solidFill>
          <a:ln w="12700">
            <a:solidFill>
              <a:srgbClr val="8BB4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01168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DSA Application for Healthcare Management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274320" y="2377440"/>
            <a:ext cx="4937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B4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77440"/>
            <a:ext cx="4937760" cy="320040"/>
          </a:xfrm>
          <a:prstGeom prst="rect">
            <a:avLst/>
          </a:prstGeom>
          <a:solidFill>
            <a:srgbClr val="8BB4C9"/>
          </a:solidFill>
          <a:ln w="12700">
            <a:solidFill>
              <a:srgbClr val="8BB4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386584"/>
            <a:ext cx="4846320" cy="3017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" y="2734056"/>
            <a:ext cx="4791456" cy="21762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Medicine Tracker System is a full-featured Java DSA application implementing core data structures and algorithms for healthcare management. It mirrors the web application's functionality using Java Collections Framework.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uses Singly Linked Lists for medicine storage, Doubly Linked Lists for emergency contacts, Stacks for undo/redo, Priority Queues for urgency ranking, and HashMaps for O(1) lookups — all demonstrated with real medicine tracking use cases.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40680" y="2377440"/>
            <a:ext cx="4937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5A9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40680" y="2377440"/>
            <a:ext cx="4937760" cy="320040"/>
          </a:xfrm>
          <a:prstGeom prst="rect">
            <a:avLst/>
          </a:prstGeom>
          <a:solidFill>
            <a:srgbClr val="5A9A65"/>
          </a:solidFill>
          <a:ln w="12700">
            <a:solidFill>
              <a:srgbClr val="5A9A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2386584"/>
            <a:ext cx="4846320" cy="3017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Architecture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03720" y="2798064"/>
            <a:ext cx="2011680" cy="310896"/>
          </a:xfrm>
          <a:prstGeom prst="rect">
            <a:avLst/>
          </a:prstGeom>
          <a:solidFill>
            <a:srgbClr val="2D3E50"/>
          </a:solidFill>
          <a:ln w="12700">
            <a:solidFill>
              <a:srgbClr val="BBBBBB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03720" y="2798064"/>
            <a:ext cx="20116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MedicineTrackerSystem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7909560" y="3108960"/>
            <a:ext cx="0" cy="91440"/>
          </a:xfrm>
          <a:prstGeom prst="line">
            <a:avLst/>
          </a:prstGeom>
          <a:noFill/>
          <a:ln w="19050">
            <a:solidFill>
              <a:srgbClr val="6A98B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3191256"/>
            <a:ext cx="91440" cy="54864"/>
          </a:xfrm>
          <a:prstGeom prst="rect">
            <a:avLst/>
          </a:prstGeom>
          <a:solidFill>
            <a:srgbClr val="6A98B3"/>
          </a:solidFill>
          <a:ln w="12700">
            <a:solidFill>
              <a:srgbClr val="6A98B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05272" y="3200400"/>
            <a:ext cx="2139696" cy="310896"/>
          </a:xfrm>
          <a:prstGeom prst="rect">
            <a:avLst/>
          </a:prstGeom>
          <a:solidFill>
            <a:srgbClr val="8BB4C9"/>
          </a:solidFill>
          <a:ln w="12700">
            <a:solidFill>
              <a:srgbClr val="BBBBBB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05272" y="3200400"/>
            <a:ext cx="2139696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MedicineManager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7854696" y="3200400"/>
            <a:ext cx="2139696" cy="310896"/>
          </a:xfrm>
          <a:prstGeom prst="rect">
            <a:avLst/>
          </a:prstGeom>
          <a:solidFill>
            <a:srgbClr val="8BB4C9"/>
          </a:solidFill>
          <a:ln w="12700">
            <a:solidFill>
              <a:srgbClr val="BBBBBB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854696" y="3200400"/>
            <a:ext cx="2139696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EmergencyContactManager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7744968" y="3355848"/>
            <a:ext cx="109728" cy="0"/>
          </a:xfrm>
          <a:prstGeom prst="line">
            <a:avLst/>
          </a:prstGeom>
          <a:noFill/>
          <a:ln w="15240">
            <a:solidFill>
              <a:srgbClr val="6A98B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09560" y="3511296"/>
            <a:ext cx="0" cy="91440"/>
          </a:xfrm>
          <a:prstGeom prst="line">
            <a:avLst/>
          </a:prstGeom>
          <a:noFill/>
          <a:ln w="19050">
            <a:solidFill>
              <a:srgbClr val="6A98B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63840" y="3593592"/>
            <a:ext cx="91440" cy="54864"/>
          </a:xfrm>
          <a:prstGeom prst="rect">
            <a:avLst/>
          </a:prstGeom>
          <a:solidFill>
            <a:srgbClr val="6A98B3"/>
          </a:solidFill>
          <a:ln w="12700">
            <a:solidFill>
              <a:srgbClr val="6A98B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05272" y="3602736"/>
            <a:ext cx="2139696" cy="310896"/>
          </a:xfrm>
          <a:prstGeom prst="rect">
            <a:avLst/>
          </a:prstGeom>
          <a:solidFill>
            <a:srgbClr val="F5D78E"/>
          </a:solidFill>
          <a:ln w="12700">
            <a:solidFill>
              <a:srgbClr val="BBBBBB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605272" y="3602736"/>
            <a:ext cx="2139696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 (ADT)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7854696" y="3602736"/>
            <a:ext cx="2139696" cy="310896"/>
          </a:xfrm>
          <a:prstGeom prst="rect">
            <a:avLst/>
          </a:prstGeom>
          <a:solidFill>
            <a:srgbClr val="F5D78E"/>
          </a:solidFill>
          <a:ln w="12700">
            <a:solidFill>
              <a:srgbClr val="BBBBBB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854696" y="3602736"/>
            <a:ext cx="2139696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EmergencyContact  (ADT)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7744968" y="3758184"/>
            <a:ext cx="109728" cy="0"/>
          </a:xfrm>
          <a:prstGeom prst="line">
            <a:avLst/>
          </a:prstGeom>
          <a:noFill/>
          <a:ln w="15240">
            <a:solidFill>
              <a:srgbClr val="6A98B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09560" y="3913632"/>
            <a:ext cx="0" cy="91440"/>
          </a:xfrm>
          <a:prstGeom prst="line">
            <a:avLst/>
          </a:prstGeom>
          <a:noFill/>
          <a:ln w="19050">
            <a:solidFill>
              <a:srgbClr val="6A98B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0" y="3995928"/>
            <a:ext cx="91440" cy="54864"/>
          </a:xfrm>
          <a:prstGeom prst="rect">
            <a:avLst/>
          </a:prstGeom>
          <a:solidFill>
            <a:srgbClr val="6A98B3"/>
          </a:solidFill>
          <a:ln w="12700">
            <a:solidFill>
              <a:srgbClr val="6A98B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05272" y="4005072"/>
            <a:ext cx="2139696" cy="310896"/>
          </a:xfrm>
          <a:prstGeom prst="rect">
            <a:avLst/>
          </a:prstGeom>
          <a:solidFill>
            <a:srgbClr val="5A9A65"/>
          </a:solidFill>
          <a:ln w="12700">
            <a:solidFill>
              <a:srgbClr val="BBBBBB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605272" y="4005072"/>
            <a:ext cx="2139696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MedicineNode</a:t>
            </a:r>
            <a:endParaRPr lang="en-US" sz="760" dirty="0"/>
          </a:p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(Singly Linked)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7854696" y="4005072"/>
            <a:ext cx="2139696" cy="310896"/>
          </a:xfrm>
          <a:prstGeom prst="rect">
            <a:avLst/>
          </a:prstGeom>
          <a:solidFill>
            <a:srgbClr val="5A9A65"/>
          </a:solidFill>
          <a:ln w="12700">
            <a:solidFill>
              <a:srgbClr val="BBBBBB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854696" y="4005072"/>
            <a:ext cx="2139696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EmergencyContactNode</a:t>
            </a:r>
            <a:endParaRPr lang="en-US" sz="760" dirty="0"/>
          </a:p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(Doubly Linked)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7744968" y="4160520"/>
            <a:ext cx="109728" cy="0"/>
          </a:xfrm>
          <a:prstGeom prst="line">
            <a:avLst/>
          </a:prstGeom>
          <a:noFill/>
          <a:ln w="15240">
            <a:solidFill>
              <a:srgbClr val="6A98B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09560" y="4315968"/>
            <a:ext cx="0" cy="91440"/>
          </a:xfrm>
          <a:prstGeom prst="line">
            <a:avLst/>
          </a:prstGeom>
          <a:noFill/>
          <a:ln w="19050">
            <a:solidFill>
              <a:srgbClr val="6A98B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63840" y="4398264"/>
            <a:ext cx="91440" cy="54864"/>
          </a:xfrm>
          <a:prstGeom prst="rect">
            <a:avLst/>
          </a:prstGeom>
          <a:solidFill>
            <a:srgbClr val="6A98B3"/>
          </a:solidFill>
          <a:ln w="12700">
            <a:solidFill>
              <a:srgbClr val="6A98B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05272" y="4407408"/>
            <a:ext cx="848563" cy="310896"/>
          </a:xfrm>
          <a:prstGeom prst="rect">
            <a:avLst/>
          </a:prstGeom>
          <a:solidFill>
            <a:srgbClr val="D4A59A"/>
          </a:solidFill>
          <a:ln w="12700">
            <a:solidFill>
              <a:srgbClr val="BBBBBB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605272" y="4407408"/>
            <a:ext cx="848563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545275" y="4407408"/>
            <a:ext cx="848563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BBBBBB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545275" y="4407408"/>
            <a:ext cx="848563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7485278" y="4407408"/>
            <a:ext cx="848563" cy="310896"/>
          </a:xfrm>
          <a:prstGeom prst="rect">
            <a:avLst/>
          </a:prstGeom>
          <a:solidFill>
            <a:srgbClr val="D4A59A"/>
          </a:solidFill>
          <a:ln w="12700">
            <a:solidFill>
              <a:srgbClr val="BBBBBB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485278" y="4407408"/>
            <a:ext cx="848563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8425282" y="4407408"/>
            <a:ext cx="848563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BBBBBB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8425282" y="4407408"/>
            <a:ext cx="848563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9365285" y="4407408"/>
            <a:ext cx="848563" cy="310896"/>
          </a:xfrm>
          <a:prstGeom prst="rect">
            <a:avLst/>
          </a:prstGeom>
          <a:solidFill>
            <a:srgbClr val="B07060"/>
          </a:solidFill>
          <a:ln w="12700">
            <a:solidFill>
              <a:srgbClr val="BBBBBB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365285" y="4407408"/>
            <a:ext cx="848563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74320" y="5148072"/>
            <a:ext cx="10140696" cy="320040"/>
          </a:xfrm>
          <a:prstGeom prst="rect">
            <a:avLst/>
          </a:prstGeom>
          <a:solidFill>
            <a:srgbClr val="2D3E50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5148072"/>
            <a:ext cx="10140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- WISE IMPLEMENTATION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74320" y="5541264"/>
            <a:ext cx="10140696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B4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274320" y="5541264"/>
            <a:ext cx="10140696" cy="301752"/>
          </a:xfrm>
          <a:prstGeom prst="rect">
            <a:avLst/>
          </a:prstGeom>
          <a:solidFill>
            <a:srgbClr val="8BB4C9"/>
          </a:solidFill>
          <a:ln w="12700">
            <a:solidFill>
              <a:srgbClr val="8BB4C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8328" y="5550408"/>
            <a:ext cx="10012680" cy="283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 Searching &amp; Sorting Algorithms</a:t>
            </a:r>
            <a:endParaRPr lang="en-US" sz="920" dirty="0"/>
          </a:p>
        </p:txBody>
      </p:sp>
      <p:sp>
        <p:nvSpPr>
          <p:cNvPr id="65" name="Text 63"/>
          <p:cNvSpPr/>
          <p:nvPr/>
        </p:nvSpPr>
        <p:spPr>
          <a:xfrm>
            <a:off x="365760" y="5879592"/>
            <a:ext cx="9957816" cy="8321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O(n) — sequential traversal of the Singly Linked List node by node with comparison count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O(log n) — sorts ArrayList first, then divide-and-conquer halving; reports comparisons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O(n log n) — stable, divide-and-conquer sorting by name; uses separate left/right sublists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 O(n log n) avg — pivot-based partition by scheduled time; unstable but cache-friendly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O(n²) &amp; Selection Sort O(n²) — demo implementations; compareAllSorts() benchmarks all</a:t>
            </a:r>
            <a:endParaRPr lang="en-US" sz="880" dirty="0"/>
          </a:p>
        </p:txBody>
      </p:sp>
      <p:sp>
        <p:nvSpPr>
          <p:cNvPr id="66" name="Shape 64"/>
          <p:cNvSpPr/>
          <p:nvPr/>
        </p:nvSpPr>
        <p:spPr>
          <a:xfrm>
            <a:off x="274320" y="6848856"/>
            <a:ext cx="51206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D7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274320" y="6848856"/>
            <a:ext cx="5120640" cy="301752"/>
          </a:xfrm>
          <a:prstGeom prst="rect">
            <a:avLst/>
          </a:prstGeom>
          <a:solidFill>
            <a:srgbClr val="F5D78E"/>
          </a:solidFill>
          <a:ln w="12700">
            <a:solidFill>
              <a:srgbClr val="F5D78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8328" y="6858000"/>
            <a:ext cx="4992624" cy="283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 ADTs &amp; Linked List Operations</a:t>
            </a:r>
            <a:endParaRPr lang="en-US" sz="920" dirty="0"/>
          </a:p>
        </p:txBody>
      </p:sp>
      <p:sp>
        <p:nvSpPr>
          <p:cNvPr id="69" name="Text 67"/>
          <p:cNvSpPr/>
          <p:nvPr/>
        </p:nvSpPr>
        <p:spPr>
          <a:xfrm>
            <a:off x="365760" y="7187184"/>
            <a:ext cx="4937760" cy="11338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ADT — encapsulates name, dosage, scheduledTime, stock, category, notes, refillDate, taken state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 — MedicineNode(data, next); insert O(n), delete O(n), reverse O(n) in-place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 — EmergencyContactNode(data, next, prev); O(1) insert at tail, O(n) delete, bidirectional traversal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detectDuplicateTimes() — HashMap groups medicines by time slot to find scheduling conflicts</a:t>
            </a:r>
            <a:endParaRPr lang="en-US" sz="880" dirty="0"/>
          </a:p>
        </p:txBody>
      </p:sp>
      <p:sp>
        <p:nvSpPr>
          <p:cNvPr id="70" name="Shape 68"/>
          <p:cNvSpPr/>
          <p:nvPr/>
        </p:nvSpPr>
        <p:spPr>
          <a:xfrm>
            <a:off x="5577840" y="6848856"/>
            <a:ext cx="4837176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AC9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5577840" y="6848856"/>
            <a:ext cx="4837176" cy="301752"/>
          </a:xfrm>
          <a:prstGeom prst="rect">
            <a:avLst/>
          </a:prstGeom>
          <a:solidFill>
            <a:srgbClr val="9AC9A4"/>
          </a:solidFill>
          <a:ln w="12700">
            <a:solidFill>
              <a:srgbClr val="9AC9A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41848" y="6858000"/>
            <a:ext cx="4709160" cy="283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  Stack, Queue &amp; Priority Queue</a:t>
            </a:r>
            <a:endParaRPr lang="en-US" sz="920" dirty="0"/>
          </a:p>
        </p:txBody>
      </p:sp>
      <p:sp>
        <p:nvSpPr>
          <p:cNvPr id="73" name="Text 71"/>
          <p:cNvSpPr/>
          <p:nvPr/>
        </p:nvSpPr>
        <p:spPr>
          <a:xfrm>
            <a:off x="5669280" y="7187184"/>
            <a:ext cx="4654296" cy="11338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Stack&lt;Medicine&gt; — undoStack / redoStack for add-medicine undo/redo operations; O(1) push/pop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Queue&lt;Medicine&gt; — LinkedList FIFO for scheduled processing order; medicineQueue display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Queue — array-based simulation with (rear+1)%capacity wraparound for daily schedule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Deque&lt;Medicine&gt; — ArrayDeque supports offerFirst/offerLast/pollFirst/pollLast at both ends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 — max-heap by calculated priority: stock level + missed status + category weight</a:t>
            </a:r>
            <a:endParaRPr lang="en-US" sz="880" dirty="0"/>
          </a:p>
        </p:txBody>
      </p:sp>
      <p:sp>
        <p:nvSpPr>
          <p:cNvPr id="74" name="Shape 72"/>
          <p:cNvSpPr/>
          <p:nvPr/>
        </p:nvSpPr>
        <p:spPr>
          <a:xfrm>
            <a:off x="274320" y="8458200"/>
            <a:ext cx="5120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B4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274320" y="8458200"/>
            <a:ext cx="5120640" cy="301752"/>
          </a:xfrm>
          <a:prstGeom prst="rect">
            <a:avLst/>
          </a:prstGeom>
          <a:solidFill>
            <a:srgbClr val="8BB4C9"/>
          </a:solidFill>
          <a:ln w="12700">
            <a:solidFill>
              <a:srgbClr val="8BB4C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8328" y="8467344"/>
            <a:ext cx="4992624" cy="283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CO4  HashMap, HashSet &amp; Collections</a:t>
            </a:r>
            <a:endParaRPr lang="en-US" sz="920" dirty="0"/>
          </a:p>
        </p:txBody>
      </p:sp>
      <p:sp>
        <p:nvSpPr>
          <p:cNvPr id="77" name="Text 75"/>
          <p:cNvSpPr/>
          <p:nvPr/>
        </p:nvSpPr>
        <p:spPr>
          <a:xfrm>
            <a:off x="365760" y="8796528"/>
            <a:ext cx="4937760" cy="1472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HashMap&lt;String, Medicine&gt; medicineMap — O(1) average lookup by lowercase name for markAsTaken/updateStock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HashMap&lt;String, List&lt;String&gt;&gt; interactionWarnings — drug interaction database; chaining collision demo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HashMap&lt;String, List&lt;String&gt;&gt; categoryMap — groups medicines by category for the category-wise report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HashMap&lt;String, List&lt;String&gt;&gt; timeMap — detects duplicate scheduled times across medicines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Collections.sort(), Collections.swap() — Java Collections Framework used throughout sort algorithms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HashMap&lt;String, EmergencyContact&gt; contactMap — O(1) emergency contact search by name</a:t>
            </a:r>
            <a:endParaRPr lang="en-US" sz="880" dirty="0"/>
          </a:p>
        </p:txBody>
      </p:sp>
      <p:sp>
        <p:nvSpPr>
          <p:cNvPr id="78" name="Shape 76"/>
          <p:cNvSpPr/>
          <p:nvPr/>
        </p:nvSpPr>
        <p:spPr>
          <a:xfrm>
            <a:off x="5577840" y="8458200"/>
            <a:ext cx="4837176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5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5577840" y="8458200"/>
            <a:ext cx="4837176" cy="301752"/>
          </a:xfrm>
          <a:prstGeom prst="rect">
            <a:avLst/>
          </a:prstGeom>
          <a:solidFill>
            <a:srgbClr val="D4A59A"/>
          </a:solidFill>
          <a:ln w="12700">
            <a:solidFill>
              <a:srgbClr val="D4A59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41848" y="8467344"/>
            <a:ext cx="4709160" cy="283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CO5 &amp; CO6  Application Features &amp; UI</a:t>
            </a:r>
            <a:endParaRPr lang="en-US" sz="920" dirty="0"/>
          </a:p>
        </p:txBody>
      </p:sp>
      <p:sp>
        <p:nvSpPr>
          <p:cNvPr id="81" name="Text 79"/>
          <p:cNvSpPr/>
          <p:nvPr/>
        </p:nvSpPr>
        <p:spPr>
          <a:xfrm>
            <a:off x="5669280" y="8796528"/>
            <a:ext cx="4654296" cy="1472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Management — add, view, mark as taken, delete, update stock, priority queue view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Contacts — add, search O(1), remove, forward &amp; reverse doubly-linked-list display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 — daily summary, adherence rate %, low stock alerts, refill reminders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Warnings — HashMap lookup checks active medicines against known drug interactions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Simulation — CSV-format output via printf for medicines_export.csv download simulation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UI — nested menus with switch-case, input validation, banner, formatted table output</a:t>
            </a:r>
            <a:endParaRPr lang="en-US" sz="880" dirty="0"/>
          </a:p>
        </p:txBody>
      </p:sp>
      <p:sp>
        <p:nvSpPr>
          <p:cNvPr id="82" name="Shape 80"/>
          <p:cNvSpPr/>
          <p:nvPr/>
        </p:nvSpPr>
        <p:spPr>
          <a:xfrm>
            <a:off x="274320" y="10424160"/>
            <a:ext cx="10140696" cy="301752"/>
          </a:xfrm>
          <a:prstGeom prst="rect">
            <a:avLst/>
          </a:prstGeom>
          <a:solidFill>
            <a:srgbClr val="6A98B3"/>
          </a:solidFill>
          <a:ln w="12700">
            <a:solidFill>
              <a:srgbClr val="6A98B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74320" y="10424160"/>
            <a:ext cx="1014069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COMPLEXITY AT A GLANCE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274320" y="10725912"/>
            <a:ext cx="3380232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10725912"/>
            <a:ext cx="64008" cy="914400"/>
          </a:xfrm>
          <a:prstGeom prst="rect">
            <a:avLst/>
          </a:prstGeom>
          <a:solidFill>
            <a:srgbClr val="8BB4C9"/>
          </a:solidFill>
          <a:ln w="12700">
            <a:solidFill>
              <a:srgbClr val="8BB4C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84048" y="10799064"/>
            <a:ext cx="3215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Insert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384048" y="11027664"/>
            <a:ext cx="321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A9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O(n)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384048" y="11210544"/>
            <a:ext cx="321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D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O(1)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384048" y="11384280"/>
            <a:ext cx="321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B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LL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654552" y="10725912"/>
            <a:ext cx="3380232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654552" y="10725912"/>
            <a:ext cx="64008" cy="914400"/>
          </a:xfrm>
          <a:prstGeom prst="rect">
            <a:avLst/>
          </a:prstGeom>
          <a:solidFill>
            <a:srgbClr val="9AC9A4"/>
          </a:solidFill>
          <a:ln w="12700">
            <a:solidFill>
              <a:srgbClr val="9AC9A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764280" y="10799064"/>
            <a:ext cx="3215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Lookup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3764280" y="11027664"/>
            <a:ext cx="321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A9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O(1) avg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3764280" y="11210544"/>
            <a:ext cx="321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D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O(1)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3764280" y="11384280"/>
            <a:ext cx="321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C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7034784" y="10725912"/>
            <a:ext cx="3380232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034784" y="10725912"/>
            <a:ext cx="64008" cy="914400"/>
          </a:xfrm>
          <a:prstGeom prst="rect">
            <a:avLst/>
          </a:prstGeom>
          <a:solidFill>
            <a:srgbClr val="F5D78E"/>
          </a:solidFill>
          <a:ln w="12700">
            <a:solidFill>
              <a:srgbClr val="F5D78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144512" y="10799064"/>
            <a:ext cx="3215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7144512" y="11027664"/>
            <a:ext cx="321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A9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O(log n)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7144512" y="11210544"/>
            <a:ext cx="321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D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O(1)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7144512" y="11384280"/>
            <a:ext cx="321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D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Array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274320" y="11640312"/>
            <a:ext cx="338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11640312"/>
            <a:ext cx="64008" cy="914400"/>
          </a:xfrm>
          <a:prstGeom prst="rect">
            <a:avLst/>
          </a:prstGeom>
          <a:solidFill>
            <a:srgbClr val="8BB4C9"/>
          </a:solidFill>
          <a:ln w="12700">
            <a:solidFill>
              <a:srgbClr val="8BB4C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84048" y="11713464"/>
            <a:ext cx="3215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384048" y="11942064"/>
            <a:ext cx="321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A9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O(n log n)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384048" y="12124944"/>
            <a:ext cx="321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D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O(n)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384048" y="12298680"/>
            <a:ext cx="321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B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3654552" y="11640312"/>
            <a:ext cx="338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54552" y="11640312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764280" y="11713464"/>
            <a:ext cx="3215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3764280" y="11942064"/>
            <a:ext cx="321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A9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O(log n)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3764280" y="12124944"/>
            <a:ext cx="321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D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O(1)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3764280" y="12298680"/>
            <a:ext cx="321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Heap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7034784" y="11640312"/>
            <a:ext cx="338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034784" y="11640312"/>
            <a:ext cx="64008" cy="914400"/>
          </a:xfrm>
          <a:prstGeom prst="rect">
            <a:avLst/>
          </a:prstGeom>
          <a:solidFill>
            <a:srgbClr val="D4A59A"/>
          </a:solidFill>
          <a:ln w="12700">
            <a:solidFill>
              <a:srgbClr val="D4A59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144512" y="11713464"/>
            <a:ext cx="3215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/ Queue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7144512" y="11942064"/>
            <a:ext cx="321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A9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O(1)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7144512" y="12124944"/>
            <a:ext cx="321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D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O(1)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7144512" y="12298680"/>
            <a:ext cx="321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4A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Stack/LinkedList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274320" y="12646152"/>
            <a:ext cx="10140696" cy="1636776"/>
          </a:xfrm>
          <a:prstGeom prst="rect">
            <a:avLst/>
          </a:prstGeom>
          <a:solidFill>
            <a:srgbClr val="FFFBEB"/>
          </a:solidFill>
          <a:ln w="12700">
            <a:solidFill>
              <a:srgbClr val="F5D7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1" name="Shape 119"/>
          <p:cNvSpPr/>
          <p:nvPr/>
        </p:nvSpPr>
        <p:spPr>
          <a:xfrm>
            <a:off x="274320" y="12646152"/>
            <a:ext cx="10140696" cy="301752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20040" y="12655296"/>
            <a:ext cx="10003536" cy="2834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Scope</a:t>
            </a:r>
            <a:endParaRPr lang="en-US" sz="1100" dirty="0"/>
          </a:p>
        </p:txBody>
      </p:sp>
      <p:sp>
        <p:nvSpPr>
          <p:cNvPr id="123" name="Text 121"/>
          <p:cNvSpPr/>
          <p:nvPr/>
        </p:nvSpPr>
        <p:spPr>
          <a:xfrm>
            <a:off x="347472" y="12984480"/>
            <a:ext cx="9939528" cy="12344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Java DSA project implements every major data structure — Singly/Doubly Linked Lists, Stack, Queue, Circular Queue, Deque, PriorityQueue, and HashMap — within a practical medicine tracking application, demonstrating real-world algorithmic trade-offs.
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</a:t>
            </a: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Tree for O(log n) medicine lookup, Graph-based drug interaction mapping, Trie for prefix-based medicine name search, and File I/O for persistent data storage.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365760" y="14392656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7863840" y="1439265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5D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r>
              <a:rPr lang="en-US" sz="750" dirty="0">
                <a:solidFill>
                  <a:srgbClr val="F5D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Gottipati Eesha Yuktha</a:t>
            </a:r>
            <a:endParaRPr lang="en-US" sz="750" dirty="0"/>
          </a:p>
          <a:p>
            <a:pPr marL="0" indent="0" algn="r">
              <a:buNone/>
            </a:pPr>
            <a:r>
              <a:rPr lang="en-US" sz="750" b="1" dirty="0">
                <a:solidFill>
                  <a:srgbClr val="F5D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</a:t>
            </a:r>
            <a:r>
              <a:rPr lang="en-US" sz="750" dirty="0">
                <a:solidFill>
                  <a:srgbClr val="F5D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2520030436</a:t>
            </a:r>
            <a:endParaRPr lang="en-US" sz="750" dirty="0"/>
          </a:p>
          <a:p>
            <a:pPr marL="0" indent="0" algn="r">
              <a:buNone/>
            </a:pPr>
            <a:r>
              <a:rPr lang="en-US" sz="750" b="1" dirty="0">
                <a:solidFill>
                  <a:srgbClr val="F5D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Cluster:</a:t>
            </a:r>
            <a:r>
              <a:rPr lang="en-US" sz="750" dirty="0">
                <a:solidFill>
                  <a:srgbClr val="F5D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endParaRPr lang="en-US" sz="750" dirty="0"/>
          </a:p>
        </p:txBody>
      </p:sp>
      <p:pic>
        <p:nvPicPr>
          <p:cNvPr id="127" name="Picture 126" descr="KLI University logo featuring a stylized gear and vibrant colors.&#10;&#10;AI-generated content may be incorrect.">
            <a:extLst>
              <a:ext uri="{FF2B5EF4-FFF2-40B4-BE49-F238E27FC236}">
                <a16:creationId xmlns:a16="http://schemas.microsoft.com/office/drawing/2014/main" id="{EE752D77-E794-786E-F25E-95BCED3A8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0" y="13990257"/>
            <a:ext cx="1681395" cy="12497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865</Words>
  <Application>Microsoft Office PowerPoint</Application>
  <PresentationFormat>Custom</PresentationFormat>
  <Paragraphs>88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yukthae@outlook.com</cp:lastModifiedBy>
  <cp:revision>2</cp:revision>
  <dcterms:created xsi:type="dcterms:W3CDTF">2026-03-06T05:12:58Z</dcterms:created>
  <dcterms:modified xsi:type="dcterms:W3CDTF">2026-03-09T08:19:08Z</dcterms:modified>
</cp:coreProperties>
</file>